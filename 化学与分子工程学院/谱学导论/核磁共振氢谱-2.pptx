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75" r:id="rId3"/>
  </p:sldMasterIdLst>
  <p:notesMasterIdLst>
    <p:notesMasterId r:id="rId15"/>
  </p:notesMasterIdLst>
  <p:sldIdLst>
    <p:sldId id="362" r:id="rId4"/>
    <p:sldId id="363" r:id="rId5"/>
    <p:sldId id="360" r:id="rId6"/>
    <p:sldId id="361" r:id="rId7"/>
    <p:sldId id="355" r:id="rId8"/>
    <p:sldId id="356" r:id="rId9"/>
    <p:sldId id="358" r:id="rId10"/>
    <p:sldId id="320" r:id="rId11"/>
    <p:sldId id="321" r:id="rId12"/>
    <p:sldId id="322" r:id="rId13"/>
    <p:sldId id="323" r:id="rId14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4" autoAdjust="0"/>
    <p:restoredTop sz="56030" autoAdjust="0"/>
  </p:normalViewPr>
  <p:slideViewPr>
    <p:cSldViewPr>
      <p:cViewPr varScale="1">
        <p:scale>
          <a:sx n="54" d="100"/>
          <a:sy n="54" d="100"/>
        </p:scale>
        <p:origin x="1314" y="36"/>
      </p:cViewPr>
      <p:guideLst>
        <p:guide orient="horz" pos="162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61DF8C0-17DD-4DBC-B7C5-4C0273D8B586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01362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DF8C0-17DD-4DBC-B7C5-4C0273D8B586}" type="slidenum">
              <a:rPr lang="en-US" altLang="zh-CN" smtClean="0">
                <a:solidFill>
                  <a:prstClr val="black"/>
                </a:solidFill>
              </a:rPr>
              <a:t>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DF8C0-17DD-4DBC-B7C5-4C0273D8B586}" type="slidenum">
              <a:rPr lang="en-US" altLang="zh-CN" smtClean="0">
                <a:solidFill>
                  <a:prstClr val="black"/>
                </a:solidFill>
              </a:rPr>
              <a:t>2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PPT3</a:t>
            </a:r>
          </a:p>
          <a:p>
            <a:r>
              <a:rPr lang="zh-CN" altLang="en-US" b="0" dirty="0" smtClean="0"/>
              <a:t>关于各类质子化学位移计算公式这里就不做讨论了，由于现在计算机技术广泛被采用，采用</a:t>
            </a:r>
            <a:r>
              <a:rPr lang="en-US" altLang="zh-CN" b="0" dirty="0" err="1" smtClean="0"/>
              <a:t>Chemdraw</a:t>
            </a:r>
            <a:r>
              <a:rPr lang="zh-CN" altLang="en-US" b="0" dirty="0" smtClean="0"/>
              <a:t>软件可以计算任意一个化合物的各种不同环境质子的化学位移数值。但是经常解析氢谱的人，应该对最常见的官能团的典型化学位移有一个概括的了解。下面和大家讨论最常见的一些官能团的化学位移数值。</a:t>
            </a:r>
            <a:endParaRPr lang="en-US" altLang="zh-CN" b="0" dirty="0" smtClean="0"/>
          </a:p>
          <a:p>
            <a:r>
              <a:rPr lang="zh-CN" altLang="en-US" b="0" dirty="0" smtClean="0"/>
              <a:t>先来看甲基，</a:t>
            </a:r>
            <a:r>
              <a:rPr lang="zh-CN" altLang="en-US" b="0" dirty="0" smtClean="0">
                <a:sym typeface="+mn-ea"/>
              </a:rPr>
              <a:t>由于</a:t>
            </a:r>
            <a:r>
              <a:rPr lang="zh-CN" altLang="en-US" b="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常见有机官能团的电负性均大于氢原子的电负性，</a:t>
            </a:r>
            <a:r>
              <a:rPr lang="zh-CN" altLang="en-US" b="0" dirty="0" smtClean="0">
                <a:sym typeface="+mn-ea"/>
              </a:rPr>
              <a:t>在相同条件下，甲基比亚甲基具有较小的化学位移数值；</a:t>
            </a:r>
            <a:endParaRPr lang="en-US" altLang="zh-CN" b="0" dirty="0" smtClean="0">
              <a:sym typeface="+mn-ea"/>
            </a:endParaRPr>
          </a:p>
          <a:p>
            <a:pPr>
              <a:defRPr/>
            </a:pPr>
            <a:endParaRPr lang="en-US" altLang="zh-CN" b="0" dirty="0" smtClean="0"/>
          </a:p>
          <a:p>
            <a:pPr>
              <a:defRPr/>
            </a:pPr>
            <a:r>
              <a:rPr lang="zh-CN" altLang="en-US" b="0" dirty="0" smtClean="0">
                <a:sym typeface="+mn-ea"/>
              </a:rPr>
              <a:t>由于吸电子诱导效应，电负性基团的取代使甲基的化学位移值加大；</a:t>
            </a:r>
            <a:endParaRPr lang="en-US" altLang="zh-CN" b="0" dirty="0" smtClean="0">
              <a:sym typeface="+mn-ea"/>
            </a:endParaRPr>
          </a:p>
          <a:p>
            <a:pPr>
              <a:defRPr/>
            </a:pPr>
            <a:endParaRPr lang="en-US" altLang="zh-CN" b="0" dirty="0" smtClean="0"/>
          </a:p>
          <a:p>
            <a:pPr>
              <a:defRPr/>
            </a:pPr>
            <a:r>
              <a:rPr lang="zh-CN" altLang="en-US" b="0" dirty="0" smtClean="0">
                <a:sym typeface="+mn-ea"/>
              </a:rPr>
              <a:t>如果是一个长碳链的端甲基，一般出现在该氢谱的最右端，具有最小的化学位移，</a:t>
            </a:r>
            <a:r>
              <a:rPr kumimoji="1" lang="zh-CN" altLang="en-US" b="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zh-CN" altLang="en-US" b="0" dirty="0" smtClean="0">
                <a:sym typeface="+mn-ea"/>
              </a:rPr>
              <a:t>约为</a:t>
            </a:r>
            <a:r>
              <a:rPr lang="en-US" altLang="zh-CN" b="0" dirty="0" smtClean="0">
                <a:sym typeface="+mn-ea"/>
              </a:rPr>
              <a:t>0.88.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DF8C0-17DD-4DBC-B7C5-4C0273D8B58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b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DF8C0-17DD-4DBC-B7C5-4C0273D8B586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9650B7A-3147-4362-887B-B55CED6A5ECE}" type="slidenum">
              <a:rPr lang="en-US" altLang="zh-CN" smtClean="0"/>
              <a:t>9</a:t>
            </a:fld>
            <a:endParaRPr lang="en-US" altLang="zh-CN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b="0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DF8C0-17DD-4DBC-B7C5-4C0273D8B586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DF8C0-17DD-4DBC-B7C5-4C0273D8B586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3C846-A35D-4CF4-BB64-940886B41938}" type="datetime10">
              <a:rPr lang="zh-CN" altLang="en-US" smtClean="0"/>
              <a:t>08:26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34E47-7534-4487-9034-63BA8F81EDDE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6216E-A222-4D6D-A040-A8F177D1EEF8}" type="datetime10">
              <a:rPr lang="zh-CN" altLang="en-US" smtClean="0"/>
              <a:t>08:26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C8897-4F6F-4C59-B4B0-FF7C6E4A4396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43F2B-289E-4224-B070-8A7A319E6AA1}" type="datetime10">
              <a:rPr lang="zh-CN" altLang="en-US" smtClean="0"/>
              <a:t>08:26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C7BEA-A4D1-462E-AB33-5ACB28670F47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D913E-F85A-4459-9DC9-4AF136757053}" type="datetime10">
              <a:rPr lang="zh-CN" altLang="en-US" smtClean="0"/>
              <a:t>08:26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90410-28BC-4C56-9666-DEA4B53B9559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D2A69-9C1F-47A0-AAA8-5D5E8EFABBDB}" type="datetime10">
              <a:rPr lang="zh-CN" altLang="en-US" smtClean="0"/>
              <a:t>08:26</a:t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A9C15-53C6-4B57-8B55-158F6379D487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94FC3-5DF1-484C-BB42-113CFC3EEC48}" type="datetime10">
              <a:rPr lang="zh-CN" altLang="en-US" smtClean="0"/>
              <a:t>08:26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5102D-FB31-4F68-8A78-2734378BED3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11A15E-2C44-4622-8706-C3CE827CE15C}" type="datetime10">
              <a:rPr lang="zh-CN" altLang="en-US" smtClean="0"/>
              <a:t>08:26</a:t>
            </a:fld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442CE-9AD3-44B0-9E0D-FFAC5490541B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6DB63-90CE-4211-B62C-76742A3E7626}" type="datetime10">
              <a:rPr lang="zh-CN" altLang="en-US" smtClean="0"/>
              <a:t>08:26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83A93-0765-4FE6-9E73-422C68D7719A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7470E-FC75-4255-A1B4-1DACF65C5E6C}" type="datetime10">
              <a:rPr lang="zh-CN" altLang="en-US" smtClean="0"/>
              <a:t>08:26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FD2356-BE1B-41EB-B1EE-DB9582C8153E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D660A-D142-46D2-839B-8F388E3015D1}" type="datetime10">
              <a:rPr lang="zh-CN" altLang="en-US" smtClean="0"/>
              <a:t>08:26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FAC00-AD94-458D-AF08-DEF906379373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A0CFD-1F17-4639-80A4-1B688CF359D6}" type="datetime10">
              <a:rPr lang="zh-CN" altLang="en-US" smtClean="0"/>
              <a:t>08:26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621F7-4129-49BA-A397-DFC65A83FD4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8EFEA9-1034-49A5-B74D-6D2CB09FBF20}" type="datetime10">
              <a:rPr lang="zh-CN" altLang="en-US" smtClean="0"/>
              <a:t>08:26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0D6D96-1BC0-4F11-BD3A-8585BE0D52AF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319EA-1B2F-4BDC-B36B-E37D85A5A9E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3C846-A35D-4CF4-BB64-940886B41938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34E47-7534-4487-9034-63BA8F81EDDE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6216E-A222-4D6D-A040-A8F177D1EEF8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C8897-4F6F-4C59-B4B0-FF7C6E4A4396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43F2B-289E-4224-B070-8A7A319E6AA1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C7BEA-A4D1-462E-AB33-5ACB28670F47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D913E-F85A-4459-9DC9-4AF136757053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90410-28BC-4C56-9666-DEA4B53B9559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D2A69-9C1F-47A0-AAA8-5D5E8EFABBDB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A9C15-53C6-4B57-8B55-158F6379D487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94FC3-5DF1-484C-BB42-113CFC3EEC48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5102D-FB31-4F68-8A78-2734378BED3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11A15E-2C44-4622-8706-C3CE827CE15C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442CE-9AD3-44B0-9E0D-FFAC5490541B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6DB63-90CE-4211-B62C-76742A3E7626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83A93-0765-4FE6-9E73-422C68D7719A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7470E-FC75-4255-A1B4-1DACF65C5E6C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FD2356-BE1B-41EB-B1EE-DB9582C8153E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D660A-D142-46D2-839B-8F388E3015D1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FAC00-AD94-458D-AF08-DEF906379373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A0CFD-1F17-4639-80A4-1B688CF359D6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621F7-4129-49BA-A397-DFC65A83FD4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8EFEA9-1034-49A5-B74D-6D2CB09FBF20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0D6D96-1BC0-4F11-BD3A-8585BE0D52AF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3C846-A35D-4CF4-BB64-940886B41938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34E47-7534-4487-9034-63BA8F81EDDE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6216E-A222-4D6D-A040-A8F177D1EEF8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C8897-4F6F-4C59-B4B0-FF7C6E4A4396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43F2B-289E-4224-B070-8A7A319E6AA1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C7BEA-A4D1-462E-AB33-5ACB28670F47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D913E-F85A-4459-9DC9-4AF136757053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90410-28BC-4C56-9666-DEA4B53B9559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D2A69-9C1F-47A0-AAA8-5D5E8EFABBDB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A9C15-53C6-4B57-8B55-158F6379D487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94FC3-5DF1-484C-BB42-113CFC3EEC48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5102D-FB31-4F68-8A78-2734378BED3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11A15E-2C44-4622-8706-C3CE827CE15C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442CE-9AD3-44B0-9E0D-FFAC5490541B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6DB63-90CE-4211-B62C-76742A3E7626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83A93-0765-4FE6-9E73-422C68D7719A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7470E-FC75-4255-A1B4-1DACF65C5E6C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FD2356-BE1B-41EB-B1EE-DB9582C8153E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D660A-D142-46D2-839B-8F388E3015D1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FAC00-AD94-458D-AF08-DEF906379373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A0CFD-1F17-4639-80A4-1B688CF359D6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621F7-4129-49BA-A397-DFC65A83FD4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8EFEA9-1034-49A5-B74D-6D2CB09FBF20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0D6D96-1BC0-4F11-BD3A-8585BE0D52AF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319EA-1B2F-4BDC-B36B-E37D85A5A9E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F28EFEA9-1034-49A5-B74D-6D2CB09FBF20}" type="datetime10">
              <a:rPr lang="zh-CN" altLang="en-US" smtClean="0"/>
              <a:t>08:26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dirty="0">
                <a:solidFill>
                  <a:srgbClr val="898989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360D6D96-1BC0-4F11-BD3A-8585BE0D52AF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F28EFEA9-1034-49A5-B74D-6D2CB09FBF20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dirty="0">
                <a:solidFill>
                  <a:srgbClr val="898989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360D6D96-1BC0-4F11-BD3A-8585BE0D52AF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F28EFEA9-1034-49A5-B74D-6D2CB09FBF20}" type="datetime10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08:26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dirty="0">
                <a:solidFill>
                  <a:srgbClr val="898989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360D6D96-1BC0-4F11-BD3A-8585BE0D52AF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9" y="250032"/>
            <a:ext cx="5904903" cy="840581"/>
          </a:xfrm>
        </p:spPr>
        <p:txBody>
          <a:bodyPr/>
          <a:lstStyle/>
          <a:p>
            <a:pPr algn="l" eaLnBrk="1" hangingPunct="1"/>
            <a:r>
              <a:rPr lang="zh-CN" altLang="en-US" sz="3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sz="3600" b="1" baseline="30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3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3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的化学位移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>
          <a:xfrm>
            <a:off x="1619250" y="1383506"/>
            <a:ext cx="6248400" cy="2700412"/>
          </a:xfrm>
        </p:spPr>
        <p:txBody>
          <a:bodyPr/>
          <a:lstStyle/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楷体_GB2312" pitchFamily="49" charset="-122"/>
              </a:rPr>
              <a:t>1.</a:t>
            </a:r>
            <a:r>
              <a:rPr lang="zh-CN" altLang="en-US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影响质子化学位移的因素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Char char="u"/>
            </a:pPr>
            <a:endParaRPr lang="en-US" altLang="zh-CN" b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各类</a:t>
            </a:r>
            <a:r>
              <a:rPr lang="en-US" altLang="zh-CN" b="1" baseline="30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的化学位移</a:t>
            </a:r>
          </a:p>
        </p:txBody>
      </p:sp>
      <p:sp>
        <p:nvSpPr>
          <p:cNvPr id="6147" name="日期占位符 5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2BF329-E78C-4B60-8510-0731FB23E453}" type="datetime10">
              <a:rPr lang="zh-CN" altLang="en-US" smtClean="0">
                <a:solidFill>
                  <a:prstClr val="black"/>
                </a:solidFill>
              </a:rPr>
              <a:t>08:26</a:t>
            </a:fld>
            <a:endParaRPr lang="en-US" altLang="zh-CN" smtClean="0">
              <a:solidFill>
                <a:prstClr val="black"/>
              </a:solidFill>
            </a:endParaRPr>
          </a:p>
        </p:txBody>
      </p:sp>
      <p:sp>
        <p:nvSpPr>
          <p:cNvPr id="614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941BF12-4D47-4499-8EFF-10B1E141B022}" type="slidenum">
              <a:rPr lang="en-US" altLang="zh-CN" smtClean="0">
                <a:solidFill>
                  <a:prstClr val="black"/>
                </a:solidFill>
                <a:latin typeface="Arial Black" panose="020B0A04020102020204" pitchFamily="34" charset="0"/>
              </a:rPr>
              <a:t>1</a:t>
            </a:fld>
            <a:endParaRPr lang="en-US" altLang="zh-CN" smtClean="0">
              <a:solidFill>
                <a:prstClr val="black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3883660" cy="822960"/>
          </a:xfrm>
        </p:spPr>
        <p:txBody>
          <a:bodyPr/>
          <a:lstStyle/>
          <a:p>
            <a:pPr eaLnBrk="1" hangingPunct="1"/>
            <a:r>
              <a:rPr lang="en-US" altLang="zh-CN" sz="3200" b="1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3200" b="1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各类</a:t>
            </a:r>
            <a:r>
              <a:rPr lang="en-US" altLang="zh-CN" sz="3200" b="1" baseline="300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3200" b="1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的化学位移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idx="1"/>
          </p:nvPr>
        </p:nvSpPr>
        <p:spPr>
          <a:xfrm>
            <a:off x="456883" y="1153716"/>
            <a:ext cx="7772400" cy="13144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化学位移是利用核磁共振推测分子结构的重要依据，了解并记住各种类型质子化学位移分布的大致情况，对于初步推测有机物结构类型十分必要。</a:t>
            </a:r>
          </a:p>
        </p:txBody>
      </p:sp>
      <p:sp>
        <p:nvSpPr>
          <p:cNvPr id="29699" name="日期占位符 5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08FE62A-61BA-4243-B45E-DCCF42060754}" type="datetime10">
              <a:rPr lang="zh-CN" altLang="en-US" smtClean="0">
                <a:solidFill>
                  <a:prstClr val="black"/>
                </a:solidFill>
              </a:rPr>
              <a:t>08:26</a:t>
            </a:fld>
            <a:endParaRPr lang="en-US" altLang="zh-CN" smtClean="0">
              <a:solidFill>
                <a:prstClr val="black"/>
              </a:solidFill>
            </a:endParaRPr>
          </a:p>
        </p:txBody>
      </p:sp>
      <p:sp>
        <p:nvSpPr>
          <p:cNvPr id="2969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F259519-CC74-4697-8461-32E648A22944}" type="slidenum">
              <a:rPr lang="en-US" altLang="zh-CN" smtClean="0">
                <a:solidFill>
                  <a:prstClr val="black"/>
                </a:solidFill>
                <a:latin typeface="Arial Black" panose="020B0A04020102020204" pitchFamily="34" charset="0"/>
              </a:rPr>
              <a:t>2</a:t>
            </a:fld>
            <a:endParaRPr lang="en-US" altLang="zh-CN" smtClean="0">
              <a:solidFill>
                <a:prstClr val="black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9702" name="Group 4"/>
          <p:cNvGrpSpPr/>
          <p:nvPr/>
        </p:nvGrpSpPr>
        <p:grpSpPr bwMode="auto">
          <a:xfrm>
            <a:off x="1295401" y="2733675"/>
            <a:ext cx="7007225" cy="1683544"/>
            <a:chOff x="816" y="2544"/>
            <a:chExt cx="4414" cy="1414"/>
          </a:xfrm>
        </p:grpSpPr>
        <p:sp>
          <p:nvSpPr>
            <p:cNvPr id="29703" name="Text Box 5"/>
            <p:cNvSpPr txBox="1">
              <a:spLocks noChangeArrowheads="1"/>
            </p:cNvSpPr>
            <p:nvPr/>
          </p:nvSpPr>
          <p:spPr bwMode="auto">
            <a:xfrm>
              <a:off x="816" y="3573"/>
              <a:ext cx="4414" cy="385"/>
            </a:xfrm>
            <a:prstGeom prst="rect">
              <a:avLst/>
            </a:prstGeom>
            <a:noFill/>
            <a:ln w="28575">
              <a:solidFill>
                <a:srgbClr val="FF505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1" lang="zh-CN" altLang="en-US" sz="2000" b="1" noProof="1">
                  <a:solidFill>
                    <a:prstClr val="black"/>
                  </a:solidFill>
                  <a:latin typeface="Times New Roman" panose="02020603050405020304" pitchFamily="18" charset="0"/>
                </a:rPr>
                <a:t>14    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13    12    11    10      9     8     7     6     5     4     3     2     1     0</a:t>
              </a:r>
            </a:p>
          </p:txBody>
        </p:sp>
        <p:grpSp>
          <p:nvGrpSpPr>
            <p:cNvPr id="29704" name="Group 6"/>
            <p:cNvGrpSpPr/>
            <p:nvPr/>
          </p:nvGrpSpPr>
          <p:grpSpPr bwMode="auto">
            <a:xfrm>
              <a:off x="931" y="2544"/>
              <a:ext cx="4184" cy="1029"/>
              <a:chOff x="931" y="2544"/>
              <a:chExt cx="4184" cy="1029"/>
            </a:xfrm>
          </p:grpSpPr>
          <p:sp>
            <p:nvSpPr>
              <p:cNvPr id="29705" name="Line 7"/>
              <p:cNvSpPr>
                <a:spLocks noChangeShapeType="1"/>
              </p:cNvSpPr>
              <p:nvPr/>
            </p:nvSpPr>
            <p:spPr bwMode="auto">
              <a:xfrm>
                <a:off x="931" y="3573"/>
                <a:ext cx="4184" cy="0"/>
              </a:xfrm>
              <a:prstGeom prst="line">
                <a:avLst/>
              </a:prstGeom>
              <a:noFill/>
              <a:ln w="28575">
                <a:solidFill>
                  <a:srgbClr val="FF505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706" name="Text Box 8"/>
              <p:cNvSpPr txBox="1">
                <a:spLocks noChangeArrowheads="1"/>
              </p:cNvSpPr>
              <p:nvPr/>
            </p:nvSpPr>
            <p:spPr bwMode="auto">
              <a:xfrm>
                <a:off x="1008" y="3002"/>
                <a:ext cx="668" cy="343"/>
              </a:xfrm>
              <a:prstGeom prst="rect">
                <a:avLst/>
              </a:prstGeom>
              <a:noFill/>
              <a:ln w="28575">
                <a:solidFill>
                  <a:srgbClr val="FF505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1" lang="zh-CN" altLang="en-US" sz="2000" b="1">
                    <a:solidFill>
                      <a:prstClr val="black"/>
                    </a:solidFill>
                    <a:latin typeface="Times New Roman" panose="02020603050405020304" pitchFamily="18" charset="0"/>
                  </a:rPr>
                  <a:t>烯  醇</a:t>
                </a:r>
              </a:p>
            </p:txBody>
          </p:sp>
          <p:sp>
            <p:nvSpPr>
              <p:cNvPr id="29707" name="Text Box 9"/>
              <p:cNvSpPr txBox="1">
                <a:spLocks noChangeArrowheads="1"/>
              </p:cNvSpPr>
              <p:nvPr/>
            </p:nvSpPr>
            <p:spPr bwMode="auto">
              <a:xfrm>
                <a:off x="1390" y="2546"/>
                <a:ext cx="687" cy="342"/>
              </a:xfrm>
              <a:prstGeom prst="rect">
                <a:avLst/>
              </a:prstGeom>
              <a:noFill/>
              <a:ln w="28575">
                <a:solidFill>
                  <a:srgbClr val="FF505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1" lang="zh-CN" altLang="en-US" sz="2000" b="1">
                    <a:solidFill>
                      <a:prstClr val="black"/>
                    </a:solidFill>
                    <a:latin typeface="Times New Roman" panose="02020603050405020304" pitchFamily="18" charset="0"/>
                  </a:rPr>
                  <a:t>羧  酸</a:t>
                </a:r>
              </a:p>
            </p:txBody>
          </p:sp>
          <p:sp>
            <p:nvSpPr>
              <p:cNvPr id="29708" name="Text Box 10"/>
              <p:cNvSpPr txBox="1">
                <a:spLocks noChangeArrowheads="1"/>
              </p:cNvSpPr>
              <p:nvPr/>
            </p:nvSpPr>
            <p:spPr bwMode="auto">
              <a:xfrm>
                <a:off x="2192" y="3002"/>
                <a:ext cx="287" cy="343"/>
              </a:xfrm>
              <a:prstGeom prst="rect">
                <a:avLst/>
              </a:prstGeom>
              <a:noFill/>
              <a:ln w="28575">
                <a:solidFill>
                  <a:srgbClr val="FF505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kumimoji="1" lang="zh-CN" altLang="en-US" sz="2000" b="1">
                    <a:solidFill>
                      <a:prstClr val="black"/>
                    </a:solidFill>
                    <a:latin typeface="Times New Roman" panose="02020603050405020304" pitchFamily="18" charset="0"/>
                  </a:rPr>
                  <a:t>醛</a:t>
                </a:r>
              </a:p>
            </p:txBody>
          </p:sp>
          <p:sp>
            <p:nvSpPr>
              <p:cNvPr id="29709" name="Text Box 11"/>
              <p:cNvSpPr txBox="1">
                <a:spLocks noChangeArrowheads="1"/>
              </p:cNvSpPr>
              <p:nvPr/>
            </p:nvSpPr>
            <p:spPr bwMode="auto">
              <a:xfrm>
                <a:off x="2650" y="3002"/>
                <a:ext cx="631" cy="343"/>
              </a:xfrm>
              <a:prstGeom prst="rect">
                <a:avLst/>
              </a:prstGeom>
              <a:noFill/>
              <a:ln w="28575">
                <a:solidFill>
                  <a:srgbClr val="FF505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1" lang="zh-CN" altLang="en-US" sz="2000" b="1">
                    <a:solidFill>
                      <a:prstClr val="black"/>
                    </a:solidFill>
                    <a:latin typeface="Times New Roman" panose="02020603050405020304" pitchFamily="18" charset="0"/>
                  </a:rPr>
                  <a:t>芳香烃</a:t>
                </a:r>
              </a:p>
            </p:txBody>
          </p:sp>
          <p:sp>
            <p:nvSpPr>
              <p:cNvPr id="29710" name="Text Box 12"/>
              <p:cNvSpPr txBox="1">
                <a:spLocks noChangeArrowheads="1"/>
              </p:cNvSpPr>
              <p:nvPr/>
            </p:nvSpPr>
            <p:spPr bwMode="auto">
              <a:xfrm>
                <a:off x="3109" y="2546"/>
                <a:ext cx="573" cy="342"/>
              </a:xfrm>
              <a:prstGeom prst="rect">
                <a:avLst/>
              </a:prstGeom>
              <a:noFill/>
              <a:ln w="28575">
                <a:solidFill>
                  <a:srgbClr val="FF505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1" lang="zh-CN" altLang="en-US" sz="2000" b="1">
                    <a:solidFill>
                      <a:prstClr val="black"/>
                    </a:solidFill>
                    <a:latin typeface="Times New Roman" panose="02020603050405020304" pitchFamily="18" charset="0"/>
                  </a:rPr>
                  <a:t>烯烃</a:t>
                </a:r>
              </a:p>
            </p:txBody>
          </p:sp>
          <p:sp>
            <p:nvSpPr>
              <p:cNvPr id="29711" name="Text Box 13"/>
              <p:cNvSpPr txBox="1">
                <a:spLocks noChangeArrowheads="1"/>
              </p:cNvSpPr>
              <p:nvPr/>
            </p:nvSpPr>
            <p:spPr bwMode="auto">
              <a:xfrm>
                <a:off x="3792" y="3024"/>
                <a:ext cx="1214" cy="343"/>
              </a:xfrm>
              <a:prstGeom prst="rect">
                <a:avLst/>
              </a:prstGeom>
              <a:noFill/>
              <a:ln w="28575">
                <a:solidFill>
                  <a:srgbClr val="FF505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kumimoji="1" lang="en-US" altLang="zh-CN" sz="2000" b="1">
                    <a:solidFill>
                      <a:prstClr val="black"/>
                    </a:solidFill>
                    <a:latin typeface="Times New Roman" panose="02020603050405020304" pitchFamily="18" charset="0"/>
                  </a:rPr>
                  <a:t>XCHn    CCHn</a:t>
                </a:r>
              </a:p>
            </p:txBody>
          </p:sp>
          <p:sp>
            <p:nvSpPr>
              <p:cNvPr id="29712" name="Text Box 14"/>
              <p:cNvSpPr txBox="1">
                <a:spLocks noChangeArrowheads="1"/>
              </p:cNvSpPr>
              <p:nvPr/>
            </p:nvSpPr>
            <p:spPr bwMode="auto">
              <a:xfrm>
                <a:off x="4176" y="2544"/>
                <a:ext cx="441" cy="336"/>
              </a:xfrm>
              <a:prstGeom prst="rect">
                <a:avLst/>
              </a:prstGeom>
              <a:noFill/>
              <a:ln w="28575">
                <a:solidFill>
                  <a:srgbClr val="FF505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2000" b="1">
                    <a:solidFill>
                      <a:prstClr val="black"/>
                    </a:solidFill>
                    <a:latin typeface="Times New Roman" panose="02020603050405020304" pitchFamily="18" charset="0"/>
                  </a:rPr>
                  <a:t>炔烃</a:t>
                </a:r>
              </a:p>
            </p:txBody>
          </p:sp>
          <p:sp>
            <p:nvSpPr>
              <p:cNvPr id="29713" name="Line 15"/>
              <p:cNvSpPr>
                <a:spLocks noChangeShapeType="1"/>
              </p:cNvSpPr>
              <p:nvPr/>
            </p:nvSpPr>
            <p:spPr bwMode="auto">
              <a:xfrm flipV="1">
                <a:off x="4512" y="3024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FF505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510540" y="951547"/>
            <a:ext cx="7119257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1) </a:t>
            </a:r>
            <a:r>
              <a:rPr lang="zh-CN" altLang="en-US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各种基团中质子化学位移值的范围  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>
          <a:xfrm>
            <a:off x="323850" y="141685"/>
            <a:ext cx="8229600" cy="1028700"/>
          </a:xfrm>
        </p:spPr>
        <p:txBody>
          <a:bodyPr/>
          <a:lstStyle/>
          <a:p>
            <a:pPr algn="l" eaLnBrk="1" hangingPunct="1">
              <a:buClrTx/>
              <a:buSzTx/>
              <a:buFontTx/>
            </a:pPr>
            <a:r>
              <a:rPr lang="en-US" altLang="zh-CN" sz="3200" b="1" kern="1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3200" b="1" kern="1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）常见官能团化学位移数值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343250"/>
            <a:ext cx="8648065" cy="3192532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  <a:defRPr/>
            </a:pPr>
            <a:r>
              <a:rPr lang="zh-CN" altLang="en-US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在相同条件下，甲基比亚甲基具有较小的化学位移数值；</a:t>
            </a:r>
            <a:endParaRPr lang="en-US" altLang="zh-CN" sz="2800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电负性基团的取代使甲基的化学位移值加大；</a:t>
            </a:r>
            <a:endParaRPr lang="en-US" altLang="zh-CN" sz="2800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如果是一个长碳链的端甲基，一般出现在该氢谱的最右端，具有最小的化学位移，</a:t>
            </a:r>
            <a:r>
              <a:rPr kumimoji="1" lang="zh-CN" altLang="en-US" sz="2800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zh-CN" altLang="en-US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约为</a:t>
            </a:r>
            <a:r>
              <a:rPr lang="en-US" altLang="zh-CN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0.88.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725" name="日期占位符 4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1A47E67-6865-4CC1-9934-052A564E11D2}" type="datetime10">
              <a:rPr lang="zh-CN" altLang="en-US" smtClean="0"/>
              <a:t>08:26</a:t>
            </a:fld>
            <a:endParaRPr lang="en-US" altLang="zh-CN" smtClean="0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AEC07C5-8B00-4055-9869-79E14A6E5B04}" type="slidenum">
              <a:rPr lang="en-US" altLang="zh-CN" smtClean="0">
                <a:latin typeface="Arial Black" panose="020B0A04020102020204" pitchFamily="34" charset="0"/>
              </a:rPr>
              <a:t>3</a:t>
            </a:fld>
            <a:endParaRPr lang="en-US" altLang="zh-CN" smtClean="0">
              <a:latin typeface="Arial Black" panose="020B0A040201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1054784"/>
            <a:ext cx="902811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甲基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927" y="1076325"/>
            <a:ext cx="8229600" cy="2914650"/>
          </a:xfrm>
        </p:spPr>
        <p:txBody>
          <a:bodyPr/>
          <a:lstStyle/>
          <a:p>
            <a:pPr>
              <a:defRPr/>
            </a:pP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  <a:defRPr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在正构烷基中，处于中间的亚甲基在</a:t>
            </a:r>
            <a:r>
              <a:rPr kumimoji="1" lang="zh-CN" altLang="en-US" sz="2800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 </a:t>
            </a:r>
            <a:r>
              <a:rPr lang="en-US" altLang="zh-CN" sz="28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1.19-1.25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出峰；</a:t>
            </a:r>
          </a:p>
          <a:p>
            <a:pPr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  <a:defRPr/>
            </a:pP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  <a:defRPr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电负性基团的取代使亚甲基的化学位移值加大。</a:t>
            </a:r>
            <a:endParaRPr lang="en-US" altLang="zh-CN" sz="2800" b="1" dirty="0" smtClean="0"/>
          </a:p>
          <a:p>
            <a:pPr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  <a:defRPr/>
            </a:pPr>
            <a:endParaRPr lang="zh-CN" altLang="en-US" sz="2800" dirty="0"/>
          </a:p>
        </p:txBody>
      </p:sp>
      <p:sp>
        <p:nvSpPr>
          <p:cNvPr id="31748" name="日期占位符 4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11D6823-EB96-4666-BA0F-0C3296DC914C}" type="datetime10">
              <a:rPr lang="zh-CN" altLang="en-US" smtClean="0"/>
              <a:t>08:26</a:t>
            </a:fld>
            <a:endParaRPr lang="en-US" altLang="zh-CN" smtClean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A15E42-D1CD-4490-8992-BF78D9C39152}" type="slidenum">
              <a:rPr lang="en-US" altLang="zh-CN" smtClean="0">
                <a:latin typeface="Arial Black" panose="020B0A04020102020204" pitchFamily="34" charset="0"/>
              </a:rPr>
              <a:t>4</a:t>
            </a:fld>
            <a:endParaRPr lang="en-US" altLang="zh-CN" smtClean="0">
              <a:latin typeface="Arial Black" panose="020B0A040201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505" y="553105"/>
            <a:ext cx="1261884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亚甲基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ChangeArrowheads="1"/>
          </p:cNvSpPr>
          <p:nvPr/>
        </p:nvSpPr>
        <p:spPr bwMode="auto">
          <a:xfrm>
            <a:off x="1500485" y="411957"/>
            <a:ext cx="6942926" cy="52322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相邻有电负性基团的饱和碳上</a:t>
            </a:r>
            <a:r>
              <a:rPr kumimoji="1"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r>
              <a:rPr kumimoji="1"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的化学位移</a:t>
            </a:r>
          </a:p>
        </p:txBody>
      </p:sp>
      <p:sp>
        <p:nvSpPr>
          <p:cNvPr id="32771" name="Rectangle 6"/>
          <p:cNvSpPr>
            <a:spLocks noChangeArrowheads="1"/>
          </p:cNvSpPr>
          <p:nvPr/>
        </p:nvSpPr>
        <p:spPr bwMode="auto">
          <a:xfrm>
            <a:off x="1066801" y="1085851"/>
            <a:ext cx="11614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苄基氢</a:t>
            </a:r>
          </a:p>
        </p:txBody>
      </p:sp>
      <p:pic>
        <p:nvPicPr>
          <p:cNvPr id="32772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771650"/>
            <a:ext cx="42672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Rectangle 8"/>
          <p:cNvSpPr>
            <a:spLocks noChangeArrowheads="1"/>
          </p:cNvSpPr>
          <p:nvPr/>
        </p:nvSpPr>
        <p:spPr bwMode="auto">
          <a:xfrm>
            <a:off x="1066800" y="2000251"/>
            <a:ext cx="13612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烯丙位</a:t>
            </a:r>
            <a:r>
              <a:rPr kumimoji="1" lang="en-US" altLang="zh-CN" sz="2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</a:p>
        </p:txBody>
      </p:sp>
      <p:graphicFrame>
        <p:nvGraphicFramePr>
          <p:cNvPr id="32774" name="Object 10"/>
          <p:cNvGraphicFramePr>
            <a:graphicFrameLocks noGrp="1" noChangeAspect="1"/>
          </p:cNvGraphicFramePr>
          <p:nvPr>
            <p:ph sz="half" idx="1"/>
          </p:nvPr>
        </p:nvGraphicFramePr>
        <p:xfrm>
          <a:off x="2676525" y="1085850"/>
          <a:ext cx="14287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3" name="CS ChemDraw Drawing" r:id="rId5" imgW="1325245" imgH="427355" progId="ChemDraw.Document.6.0">
                  <p:embed/>
                </p:oleObj>
              </mc:Choice>
              <mc:Fallback>
                <p:oleObj name="CS ChemDraw Drawing" r:id="rId5" imgW="1325245" imgH="427355" progId="ChemDraw.Document.6.0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6525" y="1085850"/>
                        <a:ext cx="1428750" cy="4603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777" name="Picture 18"/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14980" y="2863215"/>
            <a:ext cx="2438400" cy="781050"/>
          </a:xfrm>
          <a:noFill/>
        </p:spPr>
      </p:pic>
      <p:sp>
        <p:nvSpPr>
          <p:cNvPr id="32775" name="Rectangle 12"/>
          <p:cNvSpPr>
            <a:spLocks noChangeArrowheads="1"/>
          </p:cNvSpPr>
          <p:nvPr/>
        </p:nvSpPr>
        <p:spPr bwMode="auto">
          <a:xfrm>
            <a:off x="1066800" y="2980373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与卤素相连</a:t>
            </a:r>
          </a:p>
        </p:txBody>
      </p:sp>
      <p:sp>
        <p:nvSpPr>
          <p:cNvPr id="32776" name="Rectangle 16"/>
          <p:cNvSpPr>
            <a:spLocks noChangeArrowheads="1"/>
          </p:cNvSpPr>
          <p:nvPr/>
        </p:nvSpPr>
        <p:spPr bwMode="auto">
          <a:xfrm>
            <a:off x="990600" y="3829051"/>
            <a:ext cx="32303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kumimoji="1" lang="en-US" altLang="zh-CN" sz="2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 (</a:t>
            </a:r>
            <a:r>
              <a:rPr kumimoji="1" lang="zh-CN" altLang="en-US" sz="2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醇、醚、酯</a:t>
            </a:r>
            <a:r>
              <a:rPr kumimoji="1" lang="en-US" altLang="zh-CN" sz="2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kumimoji="1" lang="zh-CN" altLang="en-US" sz="2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相连</a:t>
            </a:r>
          </a:p>
        </p:txBody>
      </p:sp>
      <p:pic>
        <p:nvPicPr>
          <p:cNvPr id="32778" name="Picture 1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829050"/>
            <a:ext cx="2438400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  <p:bldP spid="32773" grpId="0"/>
      <p:bldP spid="32775" grpId="0"/>
      <p:bldP spid="3277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ChangeArrowheads="1"/>
          </p:cNvSpPr>
          <p:nvPr/>
        </p:nvSpPr>
        <p:spPr bwMode="auto">
          <a:xfrm>
            <a:off x="685800" y="401318"/>
            <a:ext cx="7920038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</a:pPr>
            <a:r>
              <a:rPr kumimoji="1"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C=O(</a:t>
            </a:r>
            <a:r>
              <a:rPr kumimoji="1"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酮、酸、酯、醛、酰胺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相连： 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400" b="1" dirty="0">
                <a:solidFill>
                  <a:srgbClr val="FF5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C=O    2</a:t>
            </a:r>
            <a:r>
              <a:rPr kumimoji="1"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337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915622"/>
              </p:ext>
            </p:extLst>
          </p:nvPr>
        </p:nvGraphicFramePr>
        <p:xfrm>
          <a:off x="1187624" y="2931790"/>
          <a:ext cx="5410200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1" name="CS ChemDraw Drawing" r:id="rId4" imgW="3223260" imgH="1127760" progId="ChemDraw.Document.6.0">
                  <p:embed/>
                </p:oleObj>
              </mc:Choice>
              <mc:Fallback>
                <p:oleObj name="CS ChemDraw Drawing" r:id="rId4" imgW="3223260" imgH="1127760" progId="ChemDraw.Document.6.0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2931790"/>
                        <a:ext cx="5410200" cy="14192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541189"/>
              </p:ext>
            </p:extLst>
          </p:nvPr>
        </p:nvGraphicFramePr>
        <p:xfrm>
          <a:off x="1259632" y="1419622"/>
          <a:ext cx="4724400" cy="1327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2" name="CS ChemDraw Drawing" r:id="rId6" imgW="2770505" imgH="1040765" progId="ChemDraw.Document.6.0">
                  <p:embed/>
                </p:oleObj>
              </mc:Choice>
              <mc:Fallback>
                <p:oleObj name="CS ChemDraw Drawing" r:id="rId6" imgW="2770505" imgH="1040765" progId="ChemDraw.Document.6.0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419622"/>
                        <a:ext cx="4724400" cy="1327547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7"/>
          <p:cNvSpPr>
            <a:spLocks noChangeArrowheads="1"/>
          </p:cNvSpPr>
          <p:nvPr/>
        </p:nvSpPr>
        <p:spPr bwMode="auto">
          <a:xfrm>
            <a:off x="251520" y="514350"/>
            <a:ext cx="7948930" cy="216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kumimoji="1" lang="en-US" altLang="zh-CN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</a:t>
            </a:r>
            <a:r>
              <a:rPr kumimoji="1"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上述</a:t>
            </a:r>
            <a:r>
              <a:rPr kumimoji="1"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范围是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在相邻只有一个电负性基团的情况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若多个电负性基团存在或是多种因素影响时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化学位移可以发生较大的变化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4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:</a:t>
            </a:r>
          </a:p>
        </p:txBody>
      </p:sp>
      <p:pic>
        <p:nvPicPr>
          <p:cNvPr id="34819" name="Picture 19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5085" y="2674941"/>
            <a:ext cx="6781800" cy="1254919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日期占位符 5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33517C-AC69-4F97-A18E-71C6F2551F1A}" type="datetime10">
              <a:rPr lang="zh-CN" altLang="en-US" smtClean="0"/>
              <a:t>08:26</a:t>
            </a:fld>
            <a:endParaRPr lang="en-US" altLang="zh-CN" smtClean="0"/>
          </a:p>
        </p:txBody>
      </p:sp>
      <p:sp>
        <p:nvSpPr>
          <p:cNvPr id="3686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B24911A-E3C0-4742-85B3-CB337A727DC6}" type="slidenum">
              <a:rPr lang="en-US" altLang="zh-CN" smtClean="0">
                <a:latin typeface="Arial Black" panose="020B0A04020102020204" pitchFamily="34" charset="0"/>
              </a:rPr>
              <a:t>8</a:t>
            </a:fld>
            <a:endParaRPr lang="en-US" altLang="zh-CN" smtClean="0">
              <a:latin typeface="Arial Black" panose="020B0A04020102020204" pitchFamily="34" charset="0"/>
            </a:endParaRPr>
          </a:p>
        </p:txBody>
      </p:sp>
      <p:sp>
        <p:nvSpPr>
          <p:cNvPr id="36868" name="Text Box 2"/>
          <p:cNvSpPr txBox="1">
            <a:spLocks noChangeArrowheads="1"/>
          </p:cNvSpPr>
          <p:nvPr/>
        </p:nvSpPr>
        <p:spPr bwMode="auto">
          <a:xfrm>
            <a:off x="539750" y="1522095"/>
            <a:ext cx="806450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无取代的烯氢</a:t>
            </a:r>
            <a:r>
              <a:rPr kumimoji="1"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δ 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5.25</a:t>
            </a:r>
          </a:p>
          <a:p>
            <a:pPr eaLnBrk="1" hangingPunct="1"/>
            <a:endParaRPr kumimoji="1"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一般情况下，一个基团的取代对于顺式氢和反式氢化学位移的影响不同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750" y="865347"/>
            <a:ext cx="1005403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烯基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日期占位符 4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EE740BB-E384-45FF-840D-54ABC6D5D994}" type="datetime10">
              <a:rPr lang="zh-CN" altLang="en-US" smtClean="0"/>
              <a:t>08:26</a:t>
            </a:fld>
            <a:endParaRPr lang="en-US" altLang="zh-CN" smtClean="0"/>
          </a:p>
        </p:txBody>
      </p:sp>
      <p:sp>
        <p:nvSpPr>
          <p:cNvPr id="3789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BD39CCE-D713-4A70-B9DD-8B12DF14F6A6}" type="slidenum">
              <a:rPr lang="en-US" altLang="zh-CN" smtClean="0">
                <a:latin typeface="Arial Black" panose="020B0A04020102020204" pitchFamily="34" charset="0"/>
              </a:rPr>
              <a:t>9</a:t>
            </a:fld>
            <a:endParaRPr lang="en-US" altLang="zh-CN" smtClean="0">
              <a:latin typeface="Arial Black" panose="020B0A04020102020204" pitchFamily="34" charset="0"/>
            </a:endParaRPr>
          </a:p>
        </p:txBody>
      </p:sp>
      <p:sp>
        <p:nvSpPr>
          <p:cNvPr id="37892" name="Text Box 2"/>
          <p:cNvSpPr txBox="1">
            <a:spLocks noChangeArrowheads="1"/>
          </p:cNvSpPr>
          <p:nvPr/>
        </p:nvSpPr>
        <p:spPr bwMode="auto">
          <a:xfrm>
            <a:off x="684213" y="1059656"/>
            <a:ext cx="7993062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</a:t>
            </a:r>
            <a:r>
              <a:rPr kumimoji="1" lang="zh-CN" alt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在氘代氯仿溶剂中苯的</a:t>
            </a:r>
            <a:endParaRPr kumimoji="1" lang="zh-CN" altLang="en-US" sz="2800" i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kumimoji="1"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</a:t>
            </a:r>
            <a:r>
              <a:rPr kumimoji="1" lang="en-US" altLang="zh-CN" sz="28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δ </a:t>
            </a:r>
            <a:r>
              <a:rPr kumimoji="1"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8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7.27</a:t>
            </a:r>
          </a:p>
          <a:p>
            <a:pPr eaLnBrk="1" hangingPunct="1"/>
            <a:endParaRPr kumimoji="1" lang="en-US" altLang="zh-CN" sz="2800" dirty="0" smtClean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kumimoji="1" lang="zh-CN" alt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单取代时，苯环剩余五个氢分为三组：邻位氢；对位氢；间位氢；取代基的不同对苯环剩余氢的化学位移产生不同的影响。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57200" y="621983"/>
            <a:ext cx="1005403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zh-CN" altLang="en-US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苯环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085" y="565666"/>
            <a:ext cx="7772400" cy="1790700"/>
          </a:xfrm>
        </p:spPr>
        <p:txBody>
          <a:bodyPr/>
          <a:lstStyle/>
          <a:p>
            <a:pPr algn="l" eaLnBrk="1" hangingPunct="1"/>
            <a:r>
              <a:rPr lang="en-US" altLang="zh-CN" sz="3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3200" dirty="0" smtClean="0">
                <a:latin typeface="楷体_GB2312" pitchFamily="49" charset="-122"/>
                <a:ea typeface="楷体_GB2312" pitchFamily="49" charset="-122"/>
              </a:rPr>
              <a:t/>
            </a:r>
            <a:br>
              <a:rPr lang="zh-CN" altLang="en-US" sz="3200" dirty="0" smtClean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杂芳环中离杂原子较近的杂芳环氢原子具有较大的化学位移数值，而距杂原子较远的杂芳环氢原子具有较小的化学位移。</a:t>
            </a:r>
            <a:r>
              <a:rPr lang="en-US" altLang="zh-CN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br>
              <a:rPr lang="en-US" altLang="zh-CN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en-US" altLang="zh-CN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endParaRPr lang="zh-CN" altLang="en-US" sz="2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915" name="日期占位符 5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0700CFD-3503-437D-B936-93EA8E56466F}" type="datetime10">
              <a:rPr lang="zh-CN" altLang="en-US" smtClean="0"/>
              <a:t>08:26</a:t>
            </a:fld>
            <a:endParaRPr lang="en-US" altLang="zh-CN" smtClean="0"/>
          </a:p>
        </p:txBody>
      </p:sp>
      <p:sp>
        <p:nvSpPr>
          <p:cNvPr id="3891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E0DFA61-E57C-4D11-987D-C3BCCC62BEAA}" type="slidenum">
              <a:rPr lang="en-US" altLang="zh-CN" smtClean="0">
                <a:latin typeface="Arial Black" panose="020B0A04020102020204" pitchFamily="34" charset="0"/>
              </a:rPr>
              <a:t>10</a:t>
            </a:fld>
            <a:endParaRPr lang="en-US" altLang="zh-CN" smtClean="0">
              <a:latin typeface="Arial Black" panose="020B0A04020102020204" pitchFamily="34" charset="0"/>
            </a:endParaRPr>
          </a:p>
        </p:txBody>
      </p:sp>
      <p:sp>
        <p:nvSpPr>
          <p:cNvPr id="38917" name="Rectangle 3"/>
          <p:cNvSpPr>
            <a:spLocks noChangeArrowheads="1"/>
          </p:cNvSpPr>
          <p:nvPr/>
        </p:nvSpPr>
        <p:spPr bwMode="auto">
          <a:xfrm>
            <a:off x="0" y="1987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89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683751"/>
              </p:ext>
            </p:extLst>
          </p:nvPr>
        </p:nvGraphicFramePr>
        <p:xfrm>
          <a:off x="0" y="2384172"/>
          <a:ext cx="8137525" cy="1403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3" name="CS ChemDraw Drawing" r:id="rId4" imgW="4638040" imgH="1071880" progId="ChemDraw.Document.6.0">
                  <p:embed/>
                </p:oleObj>
              </mc:Choice>
              <mc:Fallback>
                <p:oleObj name="CS ChemDraw Drawing" r:id="rId4" imgW="4638040" imgH="1071880" progId="ChemDraw.Document.6.0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384172"/>
                        <a:ext cx="8137525" cy="140374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29615" y="4052412"/>
            <a:ext cx="7684770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杂芳环被取代后，由于取代基的影响，杂芳环上剩余氢的化学位移也会变化。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21030" y="64477"/>
            <a:ext cx="1415772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杂芳环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3"/>
          <p:cNvSpPr>
            <a:spLocks noGrp="1" noChangeArrowheads="1"/>
          </p:cNvSpPr>
          <p:nvPr>
            <p:ph type="title"/>
          </p:nvPr>
        </p:nvSpPr>
        <p:spPr>
          <a:xfrm>
            <a:off x="825500" y="638652"/>
            <a:ext cx="1661160" cy="535781"/>
          </a:xfrm>
          <a:noFill/>
        </p:spPr>
        <p:txBody>
          <a:bodyPr anchor="b"/>
          <a:lstStyle/>
          <a:p>
            <a:pPr eaLnBrk="1" hangingPunct="1"/>
            <a:r>
              <a:rPr lang="zh-CN" altLang="en-US" sz="320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活泼氢</a:t>
            </a:r>
          </a:p>
        </p:txBody>
      </p:sp>
      <p:sp>
        <p:nvSpPr>
          <p:cNvPr id="39940" name="Rectangle 2"/>
          <p:cNvSpPr>
            <a:spLocks noGrp="1" noChangeArrowheads="1"/>
          </p:cNvSpPr>
          <p:nvPr>
            <p:ph idx="1"/>
          </p:nvPr>
        </p:nvSpPr>
        <p:spPr>
          <a:xfrm>
            <a:off x="825501" y="1302068"/>
            <a:ext cx="7860665" cy="712946"/>
          </a:xfrm>
          <a:noFill/>
        </p:spPr>
        <p:txBody>
          <a:bodyPr/>
          <a:lstStyle/>
          <a:p>
            <a:pPr algn="just" eaLnBrk="1" hangingPunct="1">
              <a:lnSpc>
                <a:spcPct val="12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活泼氢是指与氧、氮及硫原子直接相连的氢。</a:t>
            </a:r>
          </a:p>
        </p:txBody>
      </p:sp>
      <p:sp>
        <p:nvSpPr>
          <p:cNvPr id="39939" name="日期占位符 5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CA09238-968B-4488-8C97-07C5C131FF03}" type="datetime10">
              <a:rPr lang="zh-CN" altLang="en-US" smtClean="0"/>
              <a:t>08:26</a:t>
            </a:fld>
            <a:endParaRPr lang="en-US" altLang="zh-CN" smtClean="0"/>
          </a:p>
        </p:txBody>
      </p:sp>
      <p:sp>
        <p:nvSpPr>
          <p:cNvPr id="3993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382DC8-C89F-4DB5-95A7-1AB37597955B}" type="slidenum">
              <a:rPr lang="en-US" altLang="zh-CN" smtClean="0">
                <a:latin typeface="Arial Black" panose="020B0A04020102020204" pitchFamily="34" charset="0"/>
              </a:rPr>
              <a:t>11</a:t>
            </a:fld>
            <a:endParaRPr lang="en-US" altLang="zh-CN" smtClean="0">
              <a:latin typeface="Arial Black" panose="020B0A04020102020204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155700" y="4462463"/>
            <a:ext cx="7988300" cy="1790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defRPr/>
            </a:pPr>
            <a:endParaRPr lang="zh-CN" altLang="en-US" sz="2800" b="1" kern="0" dirty="0"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5501" y="2003108"/>
            <a:ext cx="7306945" cy="16435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just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能形成氢键和发生交换反应，因此化学位移值受测定时温度、样品浓度以及所用溶剂等因素影响，在一定范围内变化。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5501" y="3675650"/>
            <a:ext cx="7306945" cy="11264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just" defTabSz="9144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用重水交换法可以鉴别出活泼氢的吸收峰（加入重水后活泼氢的吸收峰消失）。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题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主题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主题3</Template>
  <TotalTime>20</TotalTime>
  <Words>683</Words>
  <Application>Microsoft Office PowerPoint</Application>
  <PresentationFormat>全屏显示(16:9)</PresentationFormat>
  <Paragraphs>82</Paragraphs>
  <Slides>11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楷体</vt:lpstr>
      <vt:lpstr>楷体_GB2312</vt:lpstr>
      <vt:lpstr>宋体</vt:lpstr>
      <vt:lpstr>微软雅黑</vt:lpstr>
      <vt:lpstr>Arial</vt:lpstr>
      <vt:lpstr>Arial Black</vt:lpstr>
      <vt:lpstr>Calibri</vt:lpstr>
      <vt:lpstr>Symbol</vt:lpstr>
      <vt:lpstr>Times New Roman</vt:lpstr>
      <vt:lpstr>Wingdings</vt:lpstr>
      <vt:lpstr>主题3</vt:lpstr>
      <vt:lpstr>1_主题3</vt:lpstr>
      <vt:lpstr>2_主题3</vt:lpstr>
      <vt:lpstr>CS ChemDraw Drawing</vt:lpstr>
      <vt:lpstr>二、1H的化学位移</vt:lpstr>
      <vt:lpstr>2.各类1H的化学位移</vt:lpstr>
      <vt:lpstr>2）常见官能团化学位移数值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杂芳环中离杂原子较近的杂芳环氢原子具有较大的化学位移数值，而距杂原子较远的杂芳环氢原子具有较小的化学位移。      </vt:lpstr>
      <vt:lpstr>活泼氢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xw</cp:lastModifiedBy>
  <cp:revision>294</cp:revision>
  <dcterms:created xsi:type="dcterms:W3CDTF">2009-04-24T14:27:00Z</dcterms:created>
  <dcterms:modified xsi:type="dcterms:W3CDTF">2020-12-03T00:36:24Z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